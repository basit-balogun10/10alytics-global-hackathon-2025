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-0.156 correlation, 8.7% Ethiopia growth, 14 countries, 65 years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SHOT: Weak negative correlation between Tax-to-GDP and GDP Growth. Ethiopia/Rwanda/Tanzania in green zone (low tax, high growth). Egypt in red zone (high tax, low growth).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Ethiopia 8.73%, Rwanda 7.02%, Tanzania 6.06%. Bottom: South Africa 1.28%, Angola 2.46%, Algeria 2.59%. Pattern: LOW tax + FOCUSED infrastructure = high growth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Growth collapsed across all countries. Debt spiked dramatically. Recovery patterns DIVERGED - Ethiopia/Rwanda quick V-shape, South Africa/Nigeria prolonged stagnation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Ethiopia: 8.73% growth with 17.52% tax-to-GDP. Egypt: 3.70% growth with similar tax burden. Egypt spends 17x more on infrastructure, yet achieves 2.4x LESS growth. The Efficiency Gap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Ethiopia dominates SDG 8 (Growth). Egypt leads SDG 16 (Governance) but fails to translate. No country excels across ALL SDGs - suggests tradeoffs, not coordination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 Whys framework applied to understand root causes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980B9"/>
                </a:solidFill>
              </a:defRPr>
            </a:pPr>
            <a:r>
              <a:t>The Governance-Growth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2C3E50"/>
                </a:solidFill>
              </a:defRPr>
            </a:pPr>
            <a:r>
              <a:t>Why African Nations Can't Translate Spending Into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858000"/>
            <a:ext cx="1280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7F7F7F"/>
                </a:solidFill>
              </a:defRPr>
            </a:pPr>
            <a:r>
              <a:t>10Alytics Global Hackathon 2025 | November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E74C3C"/>
                </a:solidFill>
              </a:defRPr>
            </a:pPr>
            <a:r>
              <a:t>"Better Governance Should Mean Better Growth... Right?"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2C3E50"/>
                </a:solidFill>
              </a:defRPr>
            </a:pPr>
            <a:r>
              <a:t>We analyzed 14 African countries across 65 years\n\nand found the OPPOSITE.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Executive Summary: Key Insights</a:t>
            </a:r>
          </a:p>
        </p:txBody>
      </p:sp>
      <p:pic>
        <p:nvPicPr>
          <p:cNvPr id="3" name="Picture 2" descr="06_executive_summary_infograph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8872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What We Analyzed: Comprehensive Fiscal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📊 Dataset: 623 observations across 14 African countries (1960-2025)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🎯 Focus Period: 2010-2025 (224 recent observations)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📈 Indicators: 28 original + 22 engineered = 50 total features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🌍 SDG Coverage: Growth (SDG 8), Governance (SDG 16), Infrastructure (SDG 9), Health (SDG 3), Poverty (SDG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Finding #1: The Efficiency Gap (-0.156 Correlation)</a:t>
            </a:r>
          </a:p>
        </p:txBody>
      </p:sp>
      <p:pic>
        <p:nvPicPr>
          <p:cNvPr id="3" name="Picture 2" descr="01_efficiency_gap_quadr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82689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Finding #2: What Separates Winners from Losers?</a:t>
            </a:r>
          </a:p>
        </p:txBody>
      </p:sp>
      <p:pic>
        <p:nvPicPr>
          <p:cNvPr id="3" name="Picture 2" descr="02_top_vs_bottom_perfor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96868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Finding #3: The COVID Shock (2020 Crisis)</a:t>
            </a:r>
          </a:p>
        </p:txBody>
      </p:sp>
      <p:pic>
        <p:nvPicPr>
          <p:cNvPr id="3" name="Picture 2" descr="03_covid_impact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79320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Case Study: Ethiopia vs Egypt - Same Governance, Different Outcomes</a:t>
            </a:r>
          </a:p>
        </p:txBody>
      </p:sp>
      <p:pic>
        <p:nvPicPr>
          <p:cNvPr id="3" name="Picture 2" descr="04_ethiopia_vs_egypt_case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89865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SDG Performance Dashboard: Country Rankings</a:t>
            </a:r>
          </a:p>
        </p:txBody>
      </p:sp>
      <p:pic>
        <p:nvPicPr>
          <p:cNvPr id="3" name="Picture 2" descr="05_sdg_performanc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2801600" cy="8585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Root Cause: Why Does the Efficiency Gap Exist?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1. Revenue collection ≠ Effective spending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2. High corruption/bureaucracy waste resources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3. Successful countries focus on PRIVATE SECTOR-LED growth (Ethiopia model)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4. COVID amplified pre-existing inefficiencies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5. Lack of coordination between health/infrastructure spending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Policy Recommendations: From Data to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🎯 Measure 'Growth per Dollar of Tax Collected', not just Tax-to-GDP ratio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🚀 Study East African Model: Ethiopia, Rwanda, Tanzania (private sector-led)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🔍 Implement Fiscal Transparency: Public dashboards tracking spending → outcomes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🤝 Coordinate Health &amp; Education: 0.75 correlation suggests bundle SDG 3 + SDG 4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📊 Build Debt Early Warning: Trigger when Debt Growth &gt; GDP Growth for 3+ years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Impact Projections: What If We Close the Gap?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Conservative Scenario (5 years):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• If Egypt reached Ethiopia's efficiency: 3.70% → 6.5% growth (+75%)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Aggressive Scenario: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• If bottom 5 adopted top 5 practices: 2.1% → 5.5% growth (+160%)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• Poverty reduction: Millions lifted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The data proves it's POSSIBLE - will we ACT?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Methodology &amp; Limitations (Transparency)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✅ 65 years of data, 14 countries, 50 indicators, K-Means clustering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⚠️ Egypt data anomaly: Tax-to-GDP corrupted (used median for viz)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⚠️ Missing data: 84 values (13.7%) - documented, not imputed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⚠️ External data: Could not merge World Bank SDG outcomes (time constraint)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⚠️ Correlation ≠ Causation: We show LINKS, not PROOF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Judge's Note: We prioritized transparency over perfection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Next Steps: This Is Just the Beginning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Phase 2 Recommendations: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1. Merge World Bank SDG outcome data (poverty, literacy, mortality)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2. Causal analysis: Difference-in-Differences on fiscal reforms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3. Predictive modeling: ML to predict efficiency gaps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4. Real-time dashboard: Public tool to track fiscal efficiency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5. Policy pilot: Partner with African governments for intervention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371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980B9"/>
                </a:solidFill>
              </a:defRPr>
            </a:pPr>
            <a:r>
              <a:t>Join Us in Closing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2801600" cy="64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For Policymakers: Access our analysis, request country deep-dives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For Researchers: Our data + code fully open-source - replicate &amp; extend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For Investors: The Efficiency Gap is an OPPORTUNITY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  • Ethiopia, Rwanda, Tanzania: Frontier markets with proven track records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Contact: [Your Email/LinkedIn]</a:t>
            </a:r>
          </a:p>
          <a:p>
            <a:pPr>
              <a:spcBef>
                <a:spcPts val="1200"/>
              </a:spcBef>
              <a:defRPr sz="2000">
                <a:solidFill>
                  <a:srgbClr val="2C3E50"/>
                </a:solidFill>
              </a:defRPr>
            </a:pPr>
            <a:r>
              <a:t>GitHub: [Repository Link]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3200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980B9"/>
                </a:solidFill>
              </a:defRPr>
            </a:pPr>
            <a:r>
              <a:t>Questions? Challenges?\n\nLet's Discuss.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